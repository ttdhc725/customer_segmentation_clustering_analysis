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96" r:id="rId7"/>
    <p:sldId id="262" r:id="rId8"/>
    <p:sldId id="295" r:id="rId9"/>
    <p:sldId id="297" r:id="rId10"/>
    <p:sldId id="289" r:id="rId1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238" autoAdjust="0"/>
  </p:normalViewPr>
  <p:slideViewPr>
    <p:cSldViewPr snapToGrid="0">
      <p:cViewPr>
        <p:scale>
          <a:sx n="100" d="100"/>
          <a:sy n="100" d="100"/>
        </p:scale>
        <p:origin x="702" y="22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20" y="102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CF7363-46B3-4791-B1F1-74C9C73C71E6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2026/5/20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51558A8-E2C3-4D4F-B74A-F34DB9A5CC63}" type="datetime1">
              <a:rPr lang="zh-CN" altLang="en-US" noProof="0" smtClean="0"/>
              <a:t>2026/5/20</a:t>
            </a:fld>
            <a:endParaRPr lang="zh-CN" altLang="en-US" noProof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4B9A9E5-4F7F-4A7D-9DE1-899232329269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005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6614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 has a weak negative relationship with spending score.</a:t>
            </a: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Income alone does not directly explain spending score.</a:t>
            </a:r>
          </a:p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Therefore, customer segmentation is useful because customer behavior is not explained by one variable only.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751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Income-only clustering is easy to understand, but it is not enough for marketing because high income does not always mean high spending.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5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812647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zh-CN" noProof="0" smtClean="0"/>
              <a:pPr/>
              <a:t>6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09715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036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议程​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日程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单击此处编辑标题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7" name="文本占位符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8" name="文本占位符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19" name="文本占位符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单击以编辑母版文本样式</a:t>
            </a:r>
          </a:p>
        </p:txBody>
      </p:sp>
      <p:sp>
        <p:nvSpPr>
          <p:cNvPr id="34" name="文本占位符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5" name="文本占位符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6" name="文本占位符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sp>
        <p:nvSpPr>
          <p:cNvPr id="37" name="文本占位符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单击编辑主文本样式</a:t>
            </a:r>
          </a:p>
        </p:txBody>
      </p:sp>
      <p:cxnSp>
        <p:nvCxnSpPr>
          <p:cNvPr id="3" name="直接连接符​​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直接连接符​​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3 列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7" name="文本占位符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1" name="文本占位符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32" name="文本占位符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3" name="文本占位符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34" name="文本占位符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2" name="文本占位符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单击此处添加副标题</a:t>
            </a:r>
          </a:p>
        </p:txBody>
      </p:sp>
      <p:sp>
        <p:nvSpPr>
          <p:cNvPr id="13" name="文本占位符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2" name="直接连接符​​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2 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7" name="文本占位符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8" name="文本占位符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9" name="文本占位符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0" name="文本占位符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3" name="文本占位符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4" name="文本占位符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pic>
        <p:nvPicPr>
          <p:cNvPr id="2" name="图形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简介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11" name="幻灯片编号占位符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符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2" name="文本占位符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3" name="文本占位符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4" name="文本占位符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5" name="文本占位符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16" name="文本占位符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17" name="日期占位符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8" name="页脚占位符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19" name="灯片编号占位符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场比较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内容占位符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</p:txBody>
      </p:sp>
      <p:sp>
        <p:nvSpPr>
          <p:cNvPr id="27" name="内容占位符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两栏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形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标题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20" name="文本占位符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5" name="文本占位符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6" name="文本占位符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7" name="文本占位符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8" name="文本占位符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lvl="0" rtl="0"/>
            <a:r>
              <a:rPr lang="zh-CN" altLang="en-US" noProof="0"/>
              <a:t>单击此处添加副标题</a:t>
            </a:r>
          </a:p>
        </p:txBody>
      </p:sp>
      <p:sp>
        <p:nvSpPr>
          <p:cNvPr id="29" name="文本占位符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单击此处添加文本</a:t>
            </a:r>
          </a:p>
        </p:txBody>
      </p:sp>
      <p:sp>
        <p:nvSpPr>
          <p:cNvPr id="21" name="日期占位符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22" name="页脚占位符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24" name="幻灯片编号占位符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长方形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6" name="文本占位符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年</a:t>
            </a:r>
            <a:endParaRPr lang="zh-CN" altLang="en-ZA" noProof="0"/>
          </a:p>
        </p:txBody>
      </p:sp>
      <p:sp>
        <p:nvSpPr>
          <p:cNvPr id="7" name="文本占位符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8" name="文本占位符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9" name="文本占位符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0" name="文本占位符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年</a:t>
            </a:r>
            <a:endParaRPr lang="zh-CN" altLang="en-ZA" noProof="0"/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3" name="文本占位符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4" name="文本占位符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5" name="文本占位符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6" name="文本占位符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7" name="文本占位符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8" name="文本占位符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19" name="文本占位符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0" name="文本占位符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1" name="文本占位符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2" name="文本占位符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3" name="文本占位符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4" name="文本占位符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5" name="文本占位符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6" name="文本占位符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7" name="文本占位符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8" name="文本占位符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29" name="文本占位符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0" name="文本占位符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1" name="文本占位符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en-US" altLang="zh-CN" noProof="0"/>
              <a:t>MM</a:t>
            </a:r>
            <a:endParaRPr lang="zh-CN" altLang="en-ZA" noProof="0"/>
          </a:p>
        </p:txBody>
      </p:sp>
      <p:sp>
        <p:nvSpPr>
          <p:cNvPr id="32" name="长方形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ZA" noProof="0">
              <a:solidFill>
                <a:schemeClr val="tx1">
                  <a:lumMod val="75000"/>
                  <a:lumOff val="2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6" name="日期占位符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37" name="页脚占位符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38" name="灯片编号占位符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占位符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 </a:t>
            </a:r>
            <a:r>
              <a:rPr lang="en-US" altLang="zh-CN" noProof="0"/>
              <a:t>SmartArt </a:t>
            </a:r>
            <a:r>
              <a:rPr lang="zh-CN" altLang="en-US" noProof="0"/>
              <a:t>图形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团队幻灯片 4 人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7" name="图片占位符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8" name="图片占位符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19" name="图片占位符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团队幻灯片 8 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7" name="图片占位符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18" name="图片占位符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19" name="图片占位符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7" name="文本占位符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4" name="文本占位符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8" name="文本占位符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5" name="文本占位符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55" name="图片占位符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6" name="图片占位符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7" name="图片占位符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zh-CN" altLang="en-US" noProof="0"/>
              <a:t>单击图标以添加图片</a:t>
            </a:r>
          </a:p>
        </p:txBody>
      </p:sp>
      <p:sp>
        <p:nvSpPr>
          <p:cNvPr id="58" name="图片占位符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54" name="文本占位符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4" name="内容占位符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8" name="文本占位符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noProof="0"/>
              <a:t>单击以编辑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5" name="内容占位符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26" name="内容占位符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zh-CN" altLang="en-US" noProof="0"/>
              <a:t>单击此处添加内容</a:t>
            </a: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zh-CN" noProof="0"/>
              <a:t>#</a:t>
            </a:r>
            <a:endParaRPr lang="zh-CN" altLang="en-US" noProof="0"/>
          </a:p>
        </p:txBody>
      </p:sp>
      <p:sp>
        <p:nvSpPr>
          <p:cNvPr id="23" name="文本占位符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单击以编辑</a:t>
            </a:r>
          </a:p>
        </p:txBody>
      </p: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9" name="幻灯片编号占位符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日期占位符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22" name="页脚占位符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24" name="幻灯片编号占位符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结束语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单击以编辑模板标题样式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日期占位符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10" name="页脚占位符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zh-CN" altLang="en-US" noProof="0"/>
              <a:t>融资演讲稿</a:t>
            </a:r>
          </a:p>
        </p:txBody>
      </p:sp>
      <p:sp>
        <p:nvSpPr>
          <p:cNvPr id="11" name="幻灯片编号占位符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/>
              <a:t>20XX</a:t>
            </a:r>
            <a:endParaRPr lang="zh-CN" altLang="en-US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noProof="0"/>
              <a:t>融资演讲稿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4200" y="2306798"/>
            <a:ext cx="7687511" cy="1122202"/>
          </a:xfrm>
        </p:spPr>
        <p:txBody>
          <a:bodyPr rtlCol="0"/>
          <a:lstStyle/>
          <a:p>
            <a:r>
              <a:rPr lang="zh-CN" altLang="zh-CN" dirty="0"/>
              <a:t>Customer Segmentation &amp; Clustering Analysis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4200" y="3753642"/>
            <a:ext cx="6286500" cy="1808958"/>
          </a:xfrm>
        </p:spPr>
        <p:txBody>
          <a:bodyPr rtlCol="0">
            <a:normAutofit/>
          </a:bodyPr>
          <a:lstStyle/>
          <a:p>
            <a:r>
              <a:rPr lang="en-US" altLang="zh-CN" dirty="0"/>
              <a:t>Identifying Target Customer Groups for Marketing Strategy</a:t>
            </a:r>
          </a:p>
          <a:p>
            <a:endParaRPr lang="en-US" altLang="zh-CN" dirty="0"/>
          </a:p>
          <a:p>
            <a:r>
              <a:rPr lang="zh-CN" altLang="zh-CN" dirty="0"/>
              <a:t>Tools: Python, Pandas, Seaborn, Matplotlib, Scikit-learn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4356101" cy="1325563"/>
          </a:xfrm>
        </p:spPr>
        <p:txBody>
          <a:bodyPr rtlCol="0"/>
          <a:lstStyle/>
          <a:p>
            <a:r>
              <a:rPr lang="zh-CN" altLang="zh-CN" dirty="0"/>
              <a:t>Business Problem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6705601" cy="2519363"/>
          </a:xfrm>
        </p:spPr>
        <p:txBody>
          <a:bodyPr rtlCol="0">
            <a:normAutofit/>
          </a:bodyPr>
          <a:lstStyle/>
          <a:p>
            <a:r>
              <a:rPr lang="en-US" altLang="zh-CN" dirty="0"/>
              <a:t>The marketing team wants to better understand customer groups and identify which customers should be targeted first for marketing campaigns.</a:t>
            </a:r>
          </a:p>
          <a:p>
            <a:endParaRPr lang="en-US" altLang="zh-CN" dirty="0"/>
          </a:p>
          <a:p>
            <a:r>
              <a:rPr lang="en-US" altLang="zh-CN" dirty="0"/>
              <a:t>1. What types of customers does the mall have?</a:t>
            </a:r>
          </a:p>
          <a:p>
            <a:r>
              <a:rPr lang="en-US" altLang="zh-CN" dirty="0"/>
              <a:t>2. Which customer group has the highest marketing value?</a:t>
            </a:r>
          </a:p>
          <a:p>
            <a:r>
              <a:rPr lang="en-US" altLang="zh-CN" dirty="0"/>
              <a:t>3. How can marketing campaigns be designed for different customer groups?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zh-CN" smtClean="0"/>
              <a:pPr/>
              <a:t>2</a:t>
            </a:fld>
            <a:endParaRPr lang="zh-CN" altLang="en-ZA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A5E04-C692-C5D1-A9C1-7C64AC97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Dataset Overview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04741A-EFE4-334A-D816-1F5246F729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2563123"/>
            <a:ext cx="4031030" cy="1564533"/>
          </a:xfrm>
        </p:spPr>
        <p:txBody>
          <a:bodyPr/>
          <a:lstStyle/>
          <a:p>
            <a:pPr algn="l"/>
            <a:r>
              <a:rPr lang="en-US" altLang="zh-CN" dirty="0"/>
              <a:t>Total customers: 200</a:t>
            </a:r>
          </a:p>
          <a:p>
            <a:pPr algn="l"/>
            <a:r>
              <a:rPr lang="en-US" altLang="zh-CN" dirty="0"/>
              <a:t>Female customers: 112 = 56%</a:t>
            </a:r>
          </a:p>
          <a:p>
            <a:pPr algn="l"/>
            <a:r>
              <a:rPr lang="en-US" altLang="zh-CN" dirty="0"/>
              <a:t>Male customers: 88 = 44%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743850C-AF01-917C-5806-77B29077F0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50795" y="2563122"/>
            <a:ext cx="5055541" cy="1564533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/>
              <a:t>Gender: 		Customer gender</a:t>
            </a:r>
          </a:p>
          <a:p>
            <a:pPr algn="l"/>
            <a:r>
              <a:rPr lang="en-US" altLang="zh-CN" dirty="0"/>
              <a:t>Age: 		Customer age</a:t>
            </a:r>
          </a:p>
          <a:p>
            <a:pPr algn="l"/>
            <a:r>
              <a:rPr lang="en-US" altLang="zh-CN" dirty="0"/>
              <a:t>Annual Income: 	Customer income level</a:t>
            </a:r>
          </a:p>
          <a:p>
            <a:pPr algn="l"/>
            <a:r>
              <a:rPr lang="en-US" altLang="zh-CN" dirty="0"/>
              <a:t>Spending Score: 	Customer spending behavior score</a:t>
            </a:r>
            <a:endParaRPr lang="zh-CN" altLang="zh-CN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168EFD9-E71A-AC13-A1E0-A1C0BCCB2D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8820432" cy="1057308"/>
          </a:xfrm>
        </p:spPr>
        <p:txBody>
          <a:bodyPr/>
          <a:lstStyle/>
          <a:p>
            <a:pPr algn="l"/>
            <a:r>
              <a:rPr lang="en-US" altLang="zh-CN" dirty="0"/>
              <a:t>Annual Income represents customer spending ability, while Spending Score represents customer spending behavior.</a:t>
            </a:r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F94C51BF-302A-7663-64B8-3BDFD2DEFF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zh-CN" noProof="0" smtClean="0"/>
              <a:pPr/>
              <a:t>3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025813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65640"/>
            <a:ext cx="8421688" cy="1325563"/>
          </a:xfrm>
        </p:spPr>
        <p:txBody>
          <a:bodyPr rtlCol="0">
            <a:normAutofit/>
          </a:bodyPr>
          <a:lstStyle/>
          <a:p>
            <a:r>
              <a:rPr lang="zh-CN" altLang="zh-CN" dirty="0"/>
              <a:t>Exploratory Data Analysis</a:t>
            </a:r>
            <a:endParaRPr lang="zh-CN" altLang="en-US" dirty="0"/>
          </a:p>
        </p:txBody>
      </p:sp>
      <p:sp>
        <p:nvSpPr>
          <p:cNvPr id="82" name="灯片编号占位符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CN" smtClean="0"/>
              <a:pPr rtl="0"/>
              <a:t>4</a:t>
            </a:fld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91187B2-50A7-4492-36A5-199DE105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59" y="3429000"/>
            <a:ext cx="3810881" cy="292734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546208-F6BF-2A95-7480-C6A3E8232147}"/>
              </a:ext>
            </a:extLst>
          </p:cNvPr>
          <p:cNvSpPr txBox="1"/>
          <p:nvPr/>
        </p:nvSpPr>
        <p:spPr>
          <a:xfrm>
            <a:off x="1241232" y="1744439"/>
            <a:ext cx="73693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sz="1600" dirty="0"/>
              <a:t>Female customers have a slightly higher average spending score.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Female and male customers have similar average age and income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Age and spending score have a weak negative relationship.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Age vs Spending Score = -0.327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Age vs Annual Income = -0.012</a:t>
            </a:r>
          </a:p>
          <a:p>
            <a:pPr marL="285750" indent="-285750">
              <a:buFontTx/>
              <a:buChar char="-"/>
            </a:pPr>
            <a:r>
              <a:rPr lang="en-US" altLang="zh-CN" sz="1600" dirty="0"/>
              <a:t>Annual Income vs Spending Score = 0.010</a:t>
            </a:r>
            <a:endParaRPr lang="zh-CN" altLang="en-US" sz="1600" dirty="0"/>
          </a:p>
          <a:p>
            <a:pPr marL="285750" indent="-285750">
              <a:buFontTx/>
              <a:buChar char="-"/>
            </a:pPr>
            <a:endParaRPr lang="zh-CN" altLang="en-US" sz="16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E040B5D-E121-ADE0-83D9-477C5B651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232" y="3517899"/>
            <a:ext cx="3679471" cy="283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85D65-76AD-C7AA-1C83-F2A93470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zh-CN" dirty="0"/>
              <a:t>lustering Method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11FD54-D2AC-40F4-5CC0-6378D6B5F7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156" y="2187336"/>
            <a:ext cx="8819793" cy="34027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600" dirty="0"/>
              <a:t>K-Means clustering was used to group customers based on similarity.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1600" dirty="0"/>
              <a:t>The elbow method was used to choose a reasonable number of clusters.</a:t>
            </a:r>
            <a:endParaRPr lang="zh-CN" altLang="en-US" sz="1600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BD8DDE-D5D6-7A36-3FF8-920A67A5E6C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zh-CN" noProof="0" smtClean="0"/>
              <a:pPr/>
              <a:t>5</a:t>
            </a:fld>
            <a:endParaRPr lang="zh-CN" altLang="en-US" noProof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ED17A1-F941-08C8-E309-605A11C52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51" y="3052761"/>
            <a:ext cx="4286249" cy="31750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278A508-587C-8098-EF95-88D68993B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088198"/>
              </p:ext>
            </p:extLst>
          </p:nvPr>
        </p:nvGraphicFramePr>
        <p:xfrm>
          <a:off x="6569178" y="3641953"/>
          <a:ext cx="4082843" cy="155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296">
                  <a:extLst>
                    <a:ext uri="{9D8B030D-6E8A-4147-A177-3AD203B41FA5}">
                      <a16:colId xmlns:a16="http://schemas.microsoft.com/office/drawing/2014/main" val="3260716546"/>
                    </a:ext>
                  </a:extLst>
                </a:gridCol>
                <a:gridCol w="1557418">
                  <a:extLst>
                    <a:ext uri="{9D8B030D-6E8A-4147-A177-3AD203B41FA5}">
                      <a16:colId xmlns:a16="http://schemas.microsoft.com/office/drawing/2014/main" val="1792670020"/>
                    </a:ext>
                  </a:extLst>
                </a:gridCol>
                <a:gridCol w="834129">
                  <a:extLst>
                    <a:ext uri="{9D8B030D-6E8A-4147-A177-3AD203B41FA5}">
                      <a16:colId xmlns:a16="http://schemas.microsoft.com/office/drawing/2014/main" val="3926936672"/>
                    </a:ext>
                  </a:extLst>
                </a:gridCol>
              </a:tblGrid>
              <a:tr h="388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solidFill>
                            <a:schemeClr val="tx1"/>
                          </a:solidFill>
                        </a:rPr>
                        <a:t>Income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Avg Income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420259"/>
                  </a:ext>
                </a:extLst>
              </a:tr>
              <a:tr h="388540">
                <a:tc>
                  <a:txBody>
                    <a:bodyPr/>
                    <a:lstStyle/>
                    <a:p>
                      <a:r>
                        <a:rPr lang="zh-CN" altLang="zh-CN" dirty="0"/>
                        <a:t>Low income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/>
                        <a:t>33.49k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833852"/>
                  </a:ext>
                </a:extLst>
              </a:tr>
              <a:tr h="388540">
                <a:tc>
                  <a:txBody>
                    <a:bodyPr/>
                    <a:lstStyle/>
                    <a:p>
                      <a:r>
                        <a:rPr lang="zh-CN" altLang="zh-CN" dirty="0"/>
                        <a:t>Middle income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67.09k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91257"/>
                  </a:ext>
                </a:extLst>
              </a:tr>
              <a:tr h="388540">
                <a:tc>
                  <a:txBody>
                    <a:bodyPr/>
                    <a:lstStyle/>
                    <a:p>
                      <a:r>
                        <a:rPr lang="zh-CN" altLang="zh-CN" dirty="0"/>
                        <a:t>High income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99.89k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41184"/>
                  </a:ext>
                </a:extLst>
              </a:tr>
            </a:tbl>
          </a:graphicData>
        </a:graphic>
      </p:graphicFrame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DBF7D687-BA38-6757-4E96-DFC648840A9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487051" y="6424852"/>
            <a:ext cx="4114800" cy="365125"/>
          </a:xfrm>
        </p:spPr>
        <p:txBody>
          <a:bodyPr/>
          <a:lstStyle/>
          <a:p>
            <a:r>
              <a:rPr lang="zh-CN" altLang="zh-CN" sz="1200" b="1" dirty="0"/>
              <a:t>elbow chart</a:t>
            </a:r>
            <a:endParaRPr lang="zh-CN" altLang="en-US" sz="1200" b="1" noProof="0" dirty="0"/>
          </a:p>
        </p:txBody>
      </p:sp>
    </p:spTree>
    <p:extLst>
      <p:ext uri="{BB962C8B-B14F-4D97-AF65-F5344CB8AC3E}">
        <p14:creationId xmlns:p14="http://schemas.microsoft.com/office/powerpoint/2010/main" val="126281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958D2-48B9-9F8F-496D-4F3556E6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Main Result — 5 Customer Segments</a:t>
            </a:r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5C2A0B8E-801B-D253-6EA0-BE66F3D8D7F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zh-CN" noProof="0" smtClean="0"/>
              <a:pPr/>
              <a:t>6</a:t>
            </a:fld>
            <a:endParaRPr lang="zh-CN" altLang="en-US" noProof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A0D2102-6DDE-D394-D850-C71EE963C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173389"/>
              </p:ext>
            </p:extLst>
          </p:nvPr>
        </p:nvGraphicFramePr>
        <p:xfrm>
          <a:off x="6592527" y="2251073"/>
          <a:ext cx="5368412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608">
                  <a:extLst>
                    <a:ext uri="{9D8B030D-6E8A-4147-A177-3AD203B41FA5}">
                      <a16:colId xmlns:a16="http://schemas.microsoft.com/office/drawing/2014/main" val="256753490"/>
                    </a:ext>
                  </a:extLst>
                </a:gridCol>
                <a:gridCol w="1051598">
                  <a:extLst>
                    <a:ext uri="{9D8B030D-6E8A-4147-A177-3AD203B41FA5}">
                      <a16:colId xmlns:a16="http://schemas.microsoft.com/office/drawing/2014/main" val="1654661968"/>
                    </a:ext>
                  </a:extLst>
                </a:gridCol>
                <a:gridCol w="1180892">
                  <a:extLst>
                    <a:ext uri="{9D8B030D-6E8A-4147-A177-3AD203B41FA5}">
                      <a16:colId xmlns:a16="http://schemas.microsoft.com/office/drawing/2014/main" val="2287537465"/>
                    </a:ext>
                  </a:extLst>
                </a:gridCol>
                <a:gridCol w="690515">
                  <a:extLst>
                    <a:ext uri="{9D8B030D-6E8A-4147-A177-3AD203B41FA5}">
                      <a16:colId xmlns:a16="http://schemas.microsoft.com/office/drawing/2014/main" val="1149627409"/>
                    </a:ext>
                  </a:extLst>
                </a:gridCol>
                <a:gridCol w="990799">
                  <a:extLst>
                    <a:ext uri="{9D8B030D-6E8A-4147-A177-3AD203B41FA5}">
                      <a16:colId xmlns:a16="http://schemas.microsoft.com/office/drawing/2014/main" val="36961071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Segment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Average Income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Average Spending Score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Count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Business Meaning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9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M income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g </a:t>
                      </a: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spending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55.30k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49.52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Regular 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396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H income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spending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86.54k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82.13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Best target 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572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L income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H</a:t>
                      </a: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spending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25.73k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79.36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Promotion-sensitive 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767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H income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L </a:t>
                      </a: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spending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88.20k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17.11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Potential 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4394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L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zh-CN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income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L</a:t>
                      </a: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 spending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26.30k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20.91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Calibri" panose="020F0502020204030204" pitchFamily="34" charset="0"/>
                        </a:rPr>
                        <a:t>Low priority customers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638732"/>
                  </a:ext>
                </a:extLst>
              </a:tr>
            </a:tbl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A5963229-27CA-83AE-94AF-941539873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827" y="2217740"/>
            <a:ext cx="4943173" cy="374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58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4198866" cy="1325563"/>
          </a:xfrm>
        </p:spPr>
        <p:txBody>
          <a:bodyPr rtlCol="0">
            <a:normAutofit/>
          </a:bodyPr>
          <a:lstStyle/>
          <a:p>
            <a:r>
              <a:rPr lang="zh-CN" altLang="zh-CN" dirty="0"/>
              <a:t>Business Recommendations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/>
          <a:p>
            <a:r>
              <a:rPr lang="en-US" altLang="zh-CN" sz="1300" dirty="0"/>
              <a:t>This group should be the main target for premium campaigns, VIP programs, and personalized offers.</a:t>
            </a:r>
            <a:endParaRPr lang="zh-CN" altLang="en-US" sz="1300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 fontScale="55000" lnSpcReduction="20000"/>
          </a:bodyPr>
          <a:lstStyle/>
          <a:p>
            <a:r>
              <a:rPr lang="zh-CN" altLang="zh-CN" b="1" dirty="0"/>
              <a:t>Recommendation 2：Use promotions for low-income, high-spending customers</a:t>
            </a:r>
            <a:endParaRPr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 fontScale="92500"/>
          </a:bodyPr>
          <a:lstStyle/>
          <a:p>
            <a:r>
              <a:rPr lang="en-US" altLang="zh-CN" dirty="0"/>
              <a:t>This group has strong spending behavior but lower income, so discounts, coupons, and seasonal promotions may work well.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 fontScale="55000" lnSpcReduction="20000"/>
          </a:bodyPr>
          <a:lstStyle/>
          <a:p>
            <a:r>
              <a:rPr lang="zh-CN" altLang="zh-CN" b="1" dirty="0"/>
              <a:t>Recommendation 3：Activate high-income, low-spending customers</a:t>
            </a:r>
            <a:endParaRPr lang="zh-CN" altLang="en-US" b="1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 fontScale="92500"/>
          </a:bodyPr>
          <a:lstStyle/>
          <a:p>
            <a:r>
              <a:rPr lang="en-US" altLang="zh-CN" dirty="0"/>
              <a:t>This group has high income but low spending score, so they may need more personalized campaigns to increase engagement.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 fontScale="92500"/>
          </a:bodyPr>
          <a:lstStyle/>
          <a:p>
            <a:r>
              <a:rPr lang="en-US" altLang="zh-CN" b="1" dirty="0"/>
              <a:t>Customer segmentation helps the marketing team move from one-size-fits-all campaigns to targeted marketing strategies.</a:t>
            </a:r>
            <a:endParaRPr lang="zh-CN" altLang="en-US" b="1" dirty="0"/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zh-CN" smtClean="0"/>
              <a:pPr rtl="0"/>
              <a:t>7</a:t>
            </a:fld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A325BCD6-1CDB-2158-9722-9428BDF4BB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zh-CN" b="1" dirty="0"/>
              <a:t>Recommendation 1：Target high-income, high-spending customers first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theme/theme1.xml><?xml version="1.0" encoding="utf-8"?>
<a:theme xmlns:a="http://schemas.openxmlformats.org/drawingml/2006/main" name="单线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0_TF56180624_Win32" id="{9D727254-2BE9-4C85-8515-511A9B42E99C}" vid="{98F67272-6949-4B1C-8084-EC46719CFC4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极简风格轻快销售幻灯片</Template>
  <TotalTime>51</TotalTime>
  <Words>527</Words>
  <Application>Microsoft Office PowerPoint</Application>
  <PresentationFormat>宽屏</PresentationFormat>
  <Paragraphs>102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 UI</vt:lpstr>
      <vt:lpstr>Arial</vt:lpstr>
      <vt:lpstr>Calibri</vt:lpstr>
      <vt:lpstr>单线</vt:lpstr>
      <vt:lpstr>Customer Segmentation &amp; Clustering Analysis</vt:lpstr>
      <vt:lpstr>Business Problem</vt:lpstr>
      <vt:lpstr>Dataset Overview</vt:lpstr>
      <vt:lpstr>Exploratory Data Analysis</vt:lpstr>
      <vt:lpstr>Clustering Method</vt:lpstr>
      <vt:lpstr>Main Result — 5 Customer Segments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Huicong</dc:creator>
  <cp:lastModifiedBy>Ding, Huicong</cp:lastModifiedBy>
  <cp:revision>4</cp:revision>
  <dcterms:created xsi:type="dcterms:W3CDTF">2026-05-19T04:32:46Z</dcterms:created>
  <dcterms:modified xsi:type="dcterms:W3CDTF">2026-05-20T20:10:29Z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